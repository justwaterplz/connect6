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Urbanis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D63438-7FFB-4BFA-A980-70F8F315C082}">
  <a:tblStyle styleId="{71D63438-7FFB-4BFA-A980-70F8F315C0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a19184311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a19184311_1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989ccde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b989ccde5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1918431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a19184311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a1918431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a19184311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a1918431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a19184311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19184311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a19184311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b989ccde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ab989ccde5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b989ccde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ab989ccde5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b989ccde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b989ccde5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b989ccde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b989ccde5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a19184311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a19184311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b989ccde5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b989ccde5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b989ccde5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b989ccde5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b989ccde5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ab989ccde5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a19184311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aa19184311_1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43cd7c75f_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a43cd7c75f_6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43cd7c75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a43cd7c75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43cd7c75f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a43cd7c75f_6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43cd7c75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43cd7c75f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43cd7c75f_6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43cd7c75f_6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43cd7c75f_6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a43cd7c75f_6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43cd7c75f_6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a43cd7c75f_6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a19184311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aa19184311_1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c984e19f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ac984e19f7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c984e19f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ac984e19f7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28875" y="1757425"/>
            <a:ext cx="10334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Connect6</a:t>
            </a:r>
            <a:r>
              <a:rPr b="1" lang="ko" sz="37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(육목)</a:t>
            </a:r>
            <a:r>
              <a:rPr b="1" i="0" lang="ko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ko" sz="4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Agent</a:t>
            </a:r>
            <a:r>
              <a:rPr b="1" i="0" lang="ko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b="1" sz="4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Development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37475" y="3617575"/>
            <a:ext cx="471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AlphaZero 기반의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Dual/Single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-Head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강화학습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37325" y="5040650"/>
            <a:ext cx="4717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김현우(120250322), 조윤기(120250344)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21147"/>
            <a:ext cx="3492400" cy="435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8600" y="1321158"/>
            <a:ext cx="3734650" cy="4357873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321147"/>
            <a:ext cx="3492400" cy="4357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4"/>
          <p:cNvSpPr txBox="1"/>
          <p:nvPr/>
        </p:nvSpPr>
        <p:spPr>
          <a:xfrm>
            <a:off x="794228" y="2502260"/>
            <a:ext cx="30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AlphaZero 방법론 </a:t>
            </a: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적용</a:t>
            </a:r>
            <a:endParaRPr sz="2400"/>
          </a:p>
        </p:txBody>
      </p:sp>
      <p:sp>
        <p:nvSpPr>
          <p:cNvPr id="96" name="Google Shape;96;p14"/>
          <p:cNvSpPr txBox="1"/>
          <p:nvPr/>
        </p:nvSpPr>
        <p:spPr>
          <a:xfrm>
            <a:off x="758800" y="3077930"/>
            <a:ext cx="31179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범용적 게임 해결을 위해 고안된 </a:t>
            </a:r>
            <a:r>
              <a:rPr b="0" i="0" lang="ko" sz="20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AlphaZero </a:t>
            </a: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알고리즘</a:t>
            </a:r>
            <a:r>
              <a:rPr b="0" i="0" lang="ko" sz="20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신경망 + MCTS)을</a:t>
            </a:r>
            <a:r>
              <a:rPr b="0" i="0" lang="ko" sz="20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Connect6</a:t>
            </a:r>
            <a:r>
              <a:rPr b="0" i="0" lang="ko" sz="20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의 특수 규칙에 맞게 최적화하여 적용</a:t>
            </a:r>
            <a:endParaRPr sz="2000">
              <a:solidFill>
                <a:srgbClr val="CCCCCC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297400" y="2502269"/>
            <a:ext cx="35973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Dual/Single</a:t>
            </a:r>
            <a:r>
              <a:rPr b="1" i="0" lang="ko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-Head </a:t>
            </a: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sz="2400"/>
          </a:p>
        </p:txBody>
      </p:sp>
      <p:sp>
        <p:nvSpPr>
          <p:cNvPr id="98" name="Google Shape;98;p14"/>
          <p:cNvSpPr txBox="1"/>
          <p:nvPr/>
        </p:nvSpPr>
        <p:spPr>
          <a:xfrm>
            <a:off x="4349650" y="3570838"/>
            <a:ext cx="3492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신경망의 Policy Head의 설계 시 Dual-Head vs Single-Head 구조 비교 실험을 통해 최적의 Acrchitecture 도출</a:t>
            </a:r>
            <a:endParaRPr sz="200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350679" y="2502260"/>
            <a:ext cx="30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Self-Play 학습</a:t>
            </a:r>
            <a:endParaRPr sz="2400"/>
          </a:p>
        </p:txBody>
      </p:sp>
      <p:sp>
        <p:nvSpPr>
          <p:cNvPr id="100" name="Google Shape;100;p14"/>
          <p:cNvSpPr txBox="1"/>
          <p:nvPr/>
        </p:nvSpPr>
        <p:spPr>
          <a:xfrm>
            <a:off x="8127975" y="3077925"/>
            <a:ext cx="3492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인간의</a:t>
            </a:r>
            <a:r>
              <a:rPr b="0" i="0" lang="ko" sz="20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기보 없이 오직 자가 대국(Self-Play)과 MCTS만으로 </a:t>
            </a:r>
            <a:r>
              <a:rPr lang="ko" sz="200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인간과의 경기에서 승리하는 것을</a:t>
            </a:r>
            <a:r>
              <a:rPr b="0" i="0" lang="ko" sz="20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목표</a:t>
            </a:r>
            <a:endParaRPr sz="2000">
              <a:solidFill>
                <a:srgbClr val="CCCCCC"/>
              </a:solidFill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9100" y="174978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101" y="174978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88400" y="174978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262247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Outline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262247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0850" y="1524000"/>
            <a:ext cx="3479823" cy="38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04875" y="1578144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보드 크기: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1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x1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격자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04875" y="2103805"/>
            <a:ext cx="490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승리 규칙: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정확히 </a:t>
            </a:r>
            <a:r>
              <a:rPr b="1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6목(Exact-6)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달성 시 승리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                 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(7목 이상은 승리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가 아니며 게임 계속 진행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2964622"/>
            <a:ext cx="590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진행 방식: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흑이 첫 1수 착수 후, 백과 흑이 번갈아 가며 </a:t>
            </a:r>
            <a:r>
              <a:rPr b="1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2수 씩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착수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3446211"/>
            <a:ext cx="6629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50" u="none" cap="none" strike="noStrike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블로킹(Blocking):</a:t>
            </a:r>
            <a:r>
              <a:rPr b="0" i="0" lang="ko" sz="1650" u="none" cap="none" strike="noStrike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 게임 시작 시 0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/2/4</a:t>
            </a:r>
            <a:r>
              <a:rPr b="0" i="0" lang="ko" sz="1650" u="none" cap="none" strike="noStrike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개의 '착수 금지 구역'을 무작위로 생성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62247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1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Environment </a:t>
            </a: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＆ Dataset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262247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162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190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27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8431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1031135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Environment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4018085"/>
            <a:ext cx="468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4518927"/>
            <a:ext cx="722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자가 대국 (Self-Play):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Agent간 대국을 통해 정답 없이 학습 데이터 생성</a:t>
            </a:r>
            <a:endParaRPr b="1"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5703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04875" y="5009052"/>
            <a:ext cx="72270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데이터 증강 (Data Augmentation):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 바둑판의 기하학적 대칭성 활용</a:t>
            </a:r>
            <a:endParaRPr sz="1650">
              <a:solidFill>
                <a:srgbClr val="FFFF0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Urbanist"/>
              <a:buChar char="-"/>
            </a:pPr>
            <a:r>
              <a:rPr b="1"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회전(0°, 90°, 180°, 270°) 및 좌우 반전을 조합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Urbanist"/>
              <a:buChar char="-"/>
            </a:pPr>
            <a:r>
              <a:rPr b="1"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1개의 대국 데이터를 8배로 증강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하여 데이터 효율성 극대화 및 overfitting 방지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471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841275"/>
            <a:ext cx="3492400" cy="573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841275"/>
            <a:ext cx="3492550" cy="573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841274"/>
            <a:ext cx="3492400" cy="57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66775" y="1136538"/>
            <a:ext cx="304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ko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State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 flipH="1" rot="10800000">
            <a:off x="675800" y="1599323"/>
            <a:ext cx="32838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86009" y="1731543"/>
            <a:ext cx="3283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6개의 채널의 13 X 13 텐서로 구성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44925" y="1136538"/>
            <a:ext cx="304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ko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Action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537075" y="1599353"/>
            <a:ext cx="3117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745513" y="2093121"/>
            <a:ext cx="290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lang="ko" sz="165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b="0" i="0" lang="ko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x1</a:t>
            </a:r>
            <a:r>
              <a:rPr lang="ko" sz="165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</a:t>
            </a:r>
            <a:r>
              <a:rPr b="0" i="0" lang="ko" sz="16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격자를 Flatten한 169개 위치 중 하나를 선택(</a:t>
            </a:r>
            <a:r>
              <a:rPr lang="ko" sz="165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Discrete Space)</a:t>
            </a:r>
            <a:endParaRPr sz="1650"/>
          </a:p>
        </p:txBody>
      </p:sp>
      <p:sp>
        <p:nvSpPr>
          <p:cNvPr id="140" name="Google Shape;140;p16"/>
          <p:cNvSpPr txBox="1"/>
          <p:nvPr/>
        </p:nvSpPr>
        <p:spPr>
          <a:xfrm>
            <a:off x="8423225" y="1136538"/>
            <a:ext cx="304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ko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Reward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223050" y="1599354"/>
            <a:ext cx="33021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155588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56061" y="2104106"/>
            <a:ext cx="271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Ch 1: 흑돌 위치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흑돌 위치 = 1, 빈칸/백돌 = 0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115558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1155588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62000" y="262247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State, Action, Reward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262247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961" y="213808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956061" y="2687881"/>
            <a:ext cx="271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Ch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백돌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위치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백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돌 위치 = 1, 빈칸/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흑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돌 = 0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961" y="271491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956061" y="3293731"/>
            <a:ext cx="271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Ch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블로킹 위치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블로킹 자리 = 1, 나머지 = 0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961" y="33207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956061" y="3887094"/>
            <a:ext cx="271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Ch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현재 플레이어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흑 차례 = 모두 1, 백 차례 = 모두 0 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961" y="391412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956061" y="4481907"/>
            <a:ext cx="271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Ch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5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서브스텝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첫 수 = 모두 0, 둘째 수 = 모두 1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961" y="450893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956061" y="5082947"/>
            <a:ext cx="271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Ch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r>
              <a:rPr b="0" i="0" lang="ko" sz="16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마지막 수 위치</a:t>
            </a:r>
            <a:endParaRPr sz="1650">
              <a:solidFill>
                <a:srgbClr val="E0E0E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마지막 수 위치 = 1, 나머지 = 0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2961" y="510302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4436" y="211299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4436" y="27919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4745513" y="2770226"/>
            <a:ext cx="290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5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이미 돌이 있거나 블로킹된 곳은 Masking 처리하여 선택 불가</a:t>
            </a:r>
            <a:endParaRPr sz="1650"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5964" y="1768528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8528303" y="1748644"/>
            <a:ext cx="2901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승리: +1, 패배: -1, 무승부: 0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4454034" y="1731543"/>
            <a:ext cx="3283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5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보드의 빈 위치에 돌을 놓는 것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/>
        </p:nvSpPr>
        <p:spPr>
          <a:xfrm>
            <a:off x="1026082" y="979598"/>
            <a:ext cx="110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Single-Head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Design    </a:t>
            </a: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Neural Network Architecture</a:t>
            </a:r>
            <a:endParaRPr b="1" sz="31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126" y="1033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439800"/>
            <a:ext cx="11322377" cy="39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Design    </a:t>
            </a: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Neural Network Architecture</a:t>
            </a:r>
            <a:endParaRPr b="1" sz="31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026082" y="979598"/>
            <a:ext cx="1105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Double</a:t>
            </a: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-Head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126" y="1033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439800"/>
            <a:ext cx="11277602" cy="496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762136" y="979598"/>
            <a:ext cx="110583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1. Backbone (ResNet Encoder): </a:t>
            </a: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보드의 상태를 압축하여 Feature Map을 추출</a:t>
            </a:r>
            <a:endParaRPr b="1" sz="20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가. 입력: (6, 11, 11)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(채널, W, H) = “obs”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나. Pipeline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1) Stem: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Conv 3x3 (96 filters) → BatchNorm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ReLU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(96, 11, 11)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	     기대효과: 채널 증가를 통한 다양한 형세 판단 정보 분석 가능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2) 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Residual Blocks (12회 반복):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Conv 3x3 (96)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BatchNorm →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ReLU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Conv 3x3 (96)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                                       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Skip Connection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ReLU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(96,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	     기대효과: 신경망의 효과와 Skip Connection으로 정보손실이 적은 Feature Map 추출 가능능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3) Stem + Residual Blocks = ResNet Encoder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다. 출력: (96, 11, 11)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(96개의 Feature map) = “feat”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Design    </a:t>
            </a: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Neural Network Architecture</a:t>
            </a:r>
            <a:endParaRPr b="1" sz="31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0175" y="4299299"/>
            <a:ext cx="8859876" cy="19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 txBox="1"/>
          <p:nvPr/>
        </p:nvSpPr>
        <p:spPr>
          <a:xfrm>
            <a:off x="762136" y="979603"/>
            <a:ext cx="11058300" cy="3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2. Policy Head 1 (π1: 첫 번째 수) : </a:t>
            </a: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Backbone의 출력을 받아 첫 번째 수 착수</a:t>
            </a: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위치 계산</a:t>
            </a:r>
            <a:b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  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* SIngle-Head에서는 Policy Head 1의 첫 번째 수 출력 값이 backbone의 입력값으로 다시 들어가 한번 더 통과(Policy Head 1을 두번 통과하여 두 수를 출력</a:t>
            </a:r>
            <a:b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가.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입력: Backbone 출력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(96, 11, 11)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나. Pipeline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1) Channel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 Reduction: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Conv 1x1 (2 filters) → BatchNorm → ReLU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(2,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	     기대효과: 채널 압축을 통하여 핵심 정보만 남기고 computation을 줄이고 overfitting 방지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2) 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Flatten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출력값 flatten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2 X 11 X 11 = 242개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121개의 logit 계산을 위한 중간 단계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3) Linear Layer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FC Layer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121개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121개의 logit 계산을 통한 각 위치의 점수 산출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) Masking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이미 돌이 있거나 blocking 자리는 “-∞”로 변환(softmax시 0%)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121개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돌을 착수 할 수 없는 위치 구현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다.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(121,)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11x11 각 위치별 Logit 값(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추천점수)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Design    </a:t>
            </a: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Neural Network Architecture</a:t>
            </a:r>
            <a:endParaRPr b="1" sz="31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200" y="5107899"/>
            <a:ext cx="10258600" cy="15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762136" y="979603"/>
            <a:ext cx="110583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3. Policy Head 2 (π2:  두 번째 수) : </a:t>
            </a: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Backbone출력에 첫 번째 수의 위치 정보(Condition)를 합쳐서</a:t>
            </a:r>
            <a:b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* Single-Head에서는 사용하지 않음.                  </a:t>
            </a: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</a:t>
            </a: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두 번째 착수 위치 계산</a:t>
            </a:r>
            <a:b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가. 입력: Backbone 출력 (96, 11, 11) + Condition (1,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나. Pipeline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1) Concatenation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96 + 1 = 97 채널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(97,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	     기대효과: “다양한 형세 판단”을 위한 채널(96)과 “직전 착수 위치”를 표시한 채널(1)을 한 데이터로 구현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2) Channel Reduction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Conv 1x1 (2 filters) → BatchNorm → ReLU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(2,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	     기대효과: 채널 압축을 통하여 핵심 정보만 남기고 computation을 줄이고 overfitting 방지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3) Flatten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출력값 flatten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2 X 11 X 11 = 242개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121개의 logit 계산을 위한 중간 단계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4) Linear Layer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FC Layer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121개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121개의 logit 계산을 통한 각 위치의 점수 산출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5) Masking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이미 돌이 있거나 blocking 자리는 “-∞”로 변환(softmax시 0%)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121개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돌을 착수 할 수 없는 위치 구현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다. 출력: (121,)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11x11 각 위치별 Logit 값(추천점수)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Design    </a:t>
            </a: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Neural Network Architecture</a:t>
            </a:r>
            <a:endParaRPr b="1" sz="31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050" y="4995400"/>
            <a:ext cx="10787876" cy="1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/>
        </p:nvSpPr>
        <p:spPr>
          <a:xfrm>
            <a:off x="762136" y="979603"/>
            <a:ext cx="110583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4. Value Head (v: 승률 예측) : </a:t>
            </a: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현재 국면이 나에게 얼마나 유리한지를 판단</a:t>
            </a:r>
            <a:b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가. 입력: Backbone 출력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(96, 11, 11)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나. Pipeline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1) Channel Reduction: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Conv 1x1 (1 filters) → BatchNorm → ReLU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(1, 11, 11)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	     기대효과: 채널 압축을 통하여 핵심 정보만 남기고 computation을 줄이고 overfitting 방지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2) Flatten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출력값 flatten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1 X 11 X 11 = 121개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121개의 logit 계산을 위한 중간 단계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3) Global Aggregation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FC Layer(90 노드) → ReLU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90개 노드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급격한 압축으로 인한 정보손실을 방지하고 90개의 위치의 정보에 대한 전역적인 판단(고차원 추론)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r>
              <a:rPr lang="ko" sz="165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4) Scalar Projection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FC Layer(1 노드) → Tanh / 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출력: -1~1 범위의 스칼라 값</a:t>
            </a:r>
            <a:b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		   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기대효과: 90개의 판단근거를 종합하여 하나의 logit으로 만들고 Activation Function(Tanh)을 통해 점수(-1 ~ 1)화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lang="ko" sz="165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다. 출력: 스칼라 값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범위 [-1, 1] 사이의 스칼라 값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Design    </a:t>
            </a:r>
            <a:r>
              <a:rPr b="1" lang="ko" sz="2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Neural Network Architecture</a:t>
            </a:r>
            <a:endParaRPr b="1" sz="31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475" y="4644463"/>
            <a:ext cx="10757399" cy="126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Training Pipeline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1656128" y="1252839"/>
            <a:ext cx="1990800" cy="15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데이터 생성</a:t>
            </a:r>
            <a:br>
              <a:rPr lang="ko" sz="2500">
                <a:latin typeface="Urbanist"/>
                <a:ea typeface="Urbanist"/>
                <a:cs typeface="Urbanist"/>
                <a:sym typeface="Urbanist"/>
              </a:rPr>
            </a:b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(Worker)</a:t>
            </a:r>
            <a:endParaRPr sz="25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435178" y="1280315"/>
            <a:ext cx="1990800" cy="15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데이터 저장</a:t>
            </a:r>
            <a:br>
              <a:rPr lang="ko" sz="2500">
                <a:latin typeface="Urbanist"/>
                <a:ea typeface="Urbanist"/>
                <a:cs typeface="Urbanist"/>
                <a:sym typeface="Urbanist"/>
              </a:rPr>
            </a:b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(Buffer)</a:t>
            </a:r>
            <a:endParaRPr sz="25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1663399" y="4599464"/>
            <a:ext cx="1990800" cy="15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모델 최신화</a:t>
            </a:r>
            <a:br>
              <a:rPr lang="ko" sz="2500">
                <a:latin typeface="Urbanist"/>
                <a:ea typeface="Urbanist"/>
                <a:cs typeface="Urbanist"/>
                <a:sym typeface="Urbanist"/>
              </a:rPr>
            </a:b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(Update)</a:t>
            </a:r>
            <a:endParaRPr sz="25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448112" y="4599464"/>
            <a:ext cx="1990800" cy="151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학습</a:t>
            </a:r>
            <a:br>
              <a:rPr lang="ko" sz="2500">
                <a:latin typeface="Urbanist"/>
                <a:ea typeface="Urbanist"/>
                <a:cs typeface="Urbanist"/>
                <a:sym typeface="Urbanist"/>
              </a:rPr>
            </a:br>
            <a:r>
              <a:rPr lang="ko" sz="2500">
                <a:latin typeface="Urbanist"/>
                <a:ea typeface="Urbanist"/>
                <a:cs typeface="Urbanist"/>
                <a:sym typeface="Urbanist"/>
              </a:rPr>
              <a:t>(Train)</a:t>
            </a:r>
            <a:endParaRPr sz="2500"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25" name="Google Shape;225;p23"/>
          <p:cNvCxnSpPr>
            <a:endCxn id="222" idx="1"/>
          </p:cNvCxnSpPr>
          <p:nvPr/>
        </p:nvCxnSpPr>
        <p:spPr>
          <a:xfrm>
            <a:off x="3646878" y="2035865"/>
            <a:ext cx="4788300" cy="3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cxnSp>
      <p:cxnSp>
        <p:nvCxnSpPr>
          <p:cNvPr id="226" name="Google Shape;226;p23"/>
          <p:cNvCxnSpPr>
            <a:stCxn id="222" idx="2"/>
            <a:endCxn id="224" idx="0"/>
          </p:cNvCxnSpPr>
          <p:nvPr/>
        </p:nvCxnSpPr>
        <p:spPr>
          <a:xfrm>
            <a:off x="9430578" y="2799215"/>
            <a:ext cx="12900" cy="1800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3"/>
          <p:cNvCxnSpPr>
            <a:endCxn id="223" idx="3"/>
          </p:cNvCxnSpPr>
          <p:nvPr/>
        </p:nvCxnSpPr>
        <p:spPr>
          <a:xfrm rot="10800000">
            <a:off x="3654199" y="5358914"/>
            <a:ext cx="4773000" cy="14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3"/>
          <p:cNvCxnSpPr>
            <a:stCxn id="223" idx="0"/>
            <a:endCxn id="221" idx="2"/>
          </p:cNvCxnSpPr>
          <p:nvPr/>
        </p:nvCxnSpPr>
        <p:spPr>
          <a:xfrm rot="10800000">
            <a:off x="2651599" y="2771864"/>
            <a:ext cx="7200" cy="1827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23"/>
          <p:cNvSpPr txBox="1"/>
          <p:nvPr/>
        </p:nvSpPr>
        <p:spPr>
          <a:xfrm>
            <a:off x="3617713" y="3360800"/>
            <a:ext cx="487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Training Loop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3212292" y="2094645"/>
            <a:ext cx="44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9984067" y="2122120"/>
            <a:ext cx="44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9984067" y="5441270"/>
            <a:ext cx="44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3212292" y="5441270"/>
            <a:ext cx="441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762000" y="23758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Training Pipeline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10860470" y="100106"/>
            <a:ext cx="1222800" cy="933300"/>
          </a:xfrm>
          <a:prstGeom prst="rect">
            <a:avLst/>
          </a:prstGeom>
          <a:solidFill>
            <a:schemeClr val="lt2"/>
          </a:solidFill>
          <a:ln cap="flat" cmpd="sng" w="5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150" lIns="56150" spcFirstLastPara="1" rIns="56150" wrap="square" tIns="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데이터 생성</a:t>
            </a:r>
            <a:br>
              <a:rPr lang="ko" sz="1535"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(Worker)</a:t>
            </a:r>
            <a:endParaRPr sz="1535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11816415" y="617235"/>
            <a:ext cx="2715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50" lIns="56150" spcFirstLastPara="1" rIns="56150" wrap="square" tIns="56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9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834655" y="883765"/>
            <a:ext cx="11292600" cy="5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AutoNum type="arabicPeriod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목표: Agent가 Self-Play를 통하여 충분한 데이터 생성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AutoNum type="arabicPeriod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동작원리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가. Simulation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현재 보드 상태(obs)에서 200회의 MCTS simulation을 수행하며 매 simulation마다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신경망(Model)을 호출하여 미래의 형세를 평가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* 착수 위치(노드)마다 N(방문횟수)과 W(가치, v값의 누적 계산)를 업데이트하며, 다음 노드 선택시에는 PUCT 공식을 통하여 선정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나. 정책 도출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시뮬레이션이 끝나면, 각 착수 지점의 방문 횟수(N)를 확률 분포(π)로 변환 하며 이것이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해당 국면의 '정답지' 역할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다. 착수 및 임시 저장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확률에 따라 실제 돌을 착수하고, (obs, π, mask) 쌍을 메모리에 임시 저장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            * 아직 승패에 대한 보상(z)는 모르는 상태이기 때문에 임시 저장 후 승패 결정에 따른 보상(z)를 추가하여 최종 저장장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라. 흐름도 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1787150" y="5190671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obs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현재 보드상태)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4404038" y="5190671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Simulation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(MCTS)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7020946" y="5190671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정책(π) 도출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9637850" y="5190671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착수 및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데이터 임시 저장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(mask 포함)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47" name="Google Shape;247;p24"/>
          <p:cNvCxnSpPr/>
          <p:nvPr/>
        </p:nvCxnSpPr>
        <p:spPr>
          <a:xfrm>
            <a:off x="3944293" y="5654069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4"/>
          <p:cNvCxnSpPr/>
          <p:nvPr/>
        </p:nvCxnSpPr>
        <p:spPr>
          <a:xfrm>
            <a:off x="6556393" y="5654069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24"/>
          <p:cNvCxnSpPr/>
          <p:nvPr/>
        </p:nvCxnSpPr>
        <p:spPr>
          <a:xfrm>
            <a:off x="9173293" y="5654069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762000" y="23758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Training Pipeline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10860470" y="100106"/>
            <a:ext cx="1222800" cy="933300"/>
          </a:xfrm>
          <a:prstGeom prst="rect">
            <a:avLst/>
          </a:prstGeom>
          <a:solidFill>
            <a:schemeClr val="lt2"/>
          </a:solidFill>
          <a:ln cap="flat" cmpd="sng" w="5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150" lIns="56150" spcFirstLastPara="1" rIns="56150" wrap="square" tIns="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데이터 </a:t>
            </a: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저장</a:t>
            </a:r>
            <a:br>
              <a:rPr lang="ko" sz="1535"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(Buffer)</a:t>
            </a:r>
            <a:endParaRPr sz="1535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11816415" y="617235"/>
            <a:ext cx="2715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50" lIns="56150" spcFirstLastPara="1" rIns="56150" wrap="square" tIns="56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9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834655" y="883765"/>
            <a:ext cx="11292600" cy="5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AutoNum type="arabicPeriod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목표: 게임 종료에 따른 데이터 저장 및 증강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AutoNum type="arabicPeriod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동작원리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가. </a:t>
            </a: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Backfilling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게임이 종료 후 승패가 결정되면, 그동안 임시 저장했던 모든 수에 대해 "누가 둔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수인가?"를 따져 z값으로 반영(승: +1, 패: -1, 무승부: 0)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나. Augmentation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바둑판의 대칭성을 활용하여, 1개의 원본 데이터를 회전(0, 90, 180, 270도) 및 좌우 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반전을 통해 8개의 데이터로 증강(데이터 효용 및 일반화 성능 향상)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다. buffer 저장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데이터를 Replay Buffer에(최대 500,000개)에 저장하며 용량이 가득 차면 가장 오래된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데이터부터 삭제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</a:t>
            </a:r>
            <a:r>
              <a:rPr lang="ko" sz="2000">
                <a:solidFill>
                  <a:srgbClr val="FF00FF"/>
                </a:solidFill>
                <a:latin typeface="Urbanist"/>
                <a:ea typeface="Urbanist"/>
                <a:cs typeface="Urbanist"/>
                <a:sym typeface="Urbanist"/>
              </a:rPr>
              <a:t>Data 저장 형태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{</a:t>
            </a: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obs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 : (6,11,11) = 보드 상태 관측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	 	  </a:t>
            </a: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π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 : (121,) = MCTS 방문 빈도 분포 [0, 1]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		   </a:t>
            </a: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 : Scalar(+1, 0, -1) = 승, 무, 패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	   </a:t>
            </a: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mask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: (121,) = 각 위치에 돌을 놓을 수 있는지 여부 [True/False]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 }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라. 흐름도 </a:t>
            </a:r>
            <a:endParaRPr sz="1300">
              <a:solidFill>
                <a:srgbClr val="FFF2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1787150" y="5767193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Backfilling</a:t>
            </a:r>
            <a:br>
              <a:rPr b="1" baseline="-25000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임시 저장 데이터에</a:t>
            </a:r>
            <a:b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z값 반영</a:t>
            </a:r>
            <a: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4404038" y="5767193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Augmentation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(데이터 증강)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7020946" y="5767193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Buffer에 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데이터 저장</a:t>
            </a:r>
            <a:endParaRPr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62" name="Google Shape;262;p25"/>
          <p:cNvCxnSpPr/>
          <p:nvPr/>
        </p:nvCxnSpPr>
        <p:spPr>
          <a:xfrm>
            <a:off x="3944293" y="6230591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5"/>
          <p:cNvCxnSpPr/>
          <p:nvPr/>
        </p:nvCxnSpPr>
        <p:spPr>
          <a:xfrm>
            <a:off x="6556393" y="6230591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/>
        </p:nvSpPr>
        <p:spPr>
          <a:xfrm>
            <a:off x="762000" y="23758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Training Pipeline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10860470" y="100106"/>
            <a:ext cx="1222800" cy="933300"/>
          </a:xfrm>
          <a:prstGeom prst="rect">
            <a:avLst/>
          </a:prstGeom>
          <a:solidFill>
            <a:schemeClr val="lt2"/>
          </a:solidFill>
          <a:ln cap="flat" cmpd="sng" w="5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150" lIns="56150" spcFirstLastPara="1" rIns="56150" wrap="square" tIns="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모델 최신화</a:t>
            </a:r>
            <a:br>
              <a:rPr lang="ko" sz="1535"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(Update)</a:t>
            </a:r>
            <a:endParaRPr sz="1535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11816415" y="617235"/>
            <a:ext cx="2715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50" lIns="56150" spcFirstLastPara="1" rIns="56150" wrap="square" tIns="56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9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834655" y="1027293"/>
            <a:ext cx="11292600" cy="5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AutoNum type="arabicPeriod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목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표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Self-play 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종료 후 Replay Buffer의 데이터를 Random Sampling하여 신경망 학습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AutoNum type="arabicPeriod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동작원리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가. Random Sampling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Replay Buffer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에서 512개(Batch Size)의 데이터를 Random Sampling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* </a:t>
            </a: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최근에 축적된 데이터 뿐만 아니라 초기 데이터도 섞여 있어 overfitting 방지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나. Prediction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Sampling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한 데이터를 신경망의 입력값으로 활용하여 예측 값(P, v) 출력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	* P: 착수 위치 확률 분포, v: 승리 확률(-1 ~ 1)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다. Loss </a:t>
            </a: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계산</a:t>
            </a:r>
            <a:endParaRPr sz="2000">
              <a:solidFill>
                <a:srgbClr val="FFFF0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Urbanist"/>
              <a:buAutoNum type="arabicParenR"/>
            </a:pP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1) Policy loss: π (target) - P (prediction) / Cross-Entropy loss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Value loss: z (target) - v (prediction) / MSE loss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라. Backpropagation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 총 Loss(Policy loss + Value loss)를 줄이는 방향으로 가중치 Update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마. 흐름도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1748413" y="5190675"/>
            <a:ext cx="23766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Random </a:t>
            </a: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Sampling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(Target)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638901" y="5190671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(P, v) 출력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(Prediction)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7255809" y="5190671"/>
            <a:ext cx="21030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Loss 계산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(Policy/Value)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9872713" y="5190675"/>
            <a:ext cx="2235900" cy="91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Backpropagation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(가중치 update)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77" name="Google Shape;277;p26"/>
          <p:cNvCxnSpPr/>
          <p:nvPr/>
        </p:nvCxnSpPr>
        <p:spPr>
          <a:xfrm>
            <a:off x="4179156" y="5654069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6"/>
          <p:cNvCxnSpPr/>
          <p:nvPr/>
        </p:nvCxnSpPr>
        <p:spPr>
          <a:xfrm>
            <a:off x="6791256" y="5654069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6"/>
          <p:cNvCxnSpPr/>
          <p:nvPr/>
        </p:nvCxnSpPr>
        <p:spPr>
          <a:xfrm>
            <a:off x="9408156" y="5654069"/>
            <a:ext cx="41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6"/>
          <p:cNvSpPr/>
          <p:nvPr/>
        </p:nvSpPr>
        <p:spPr>
          <a:xfrm>
            <a:off x="9542645" y="100106"/>
            <a:ext cx="1222800" cy="933300"/>
          </a:xfrm>
          <a:prstGeom prst="rect">
            <a:avLst/>
          </a:prstGeom>
          <a:solidFill>
            <a:schemeClr val="lt2"/>
          </a:solidFill>
          <a:ln cap="flat" cmpd="sng" w="5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150" lIns="56150" spcFirstLastPara="1" rIns="56150" wrap="square" tIns="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학습</a:t>
            </a:r>
            <a:br>
              <a:rPr lang="ko" sz="1535"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5">
                <a:latin typeface="Urbanist"/>
                <a:ea typeface="Urbanist"/>
                <a:cs typeface="Urbanist"/>
                <a:sym typeface="Urbanist"/>
              </a:rPr>
              <a:t>(Train)</a:t>
            </a:r>
            <a:endParaRPr sz="1535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10498590" y="617235"/>
            <a:ext cx="2715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6150" lIns="56150" spcFirstLastPara="1" rIns="56150" wrap="square" tIns="56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96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96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/>
        </p:nvSpPr>
        <p:spPr>
          <a:xfrm>
            <a:off x="762000" y="23758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Training Pipeline </a:t>
            </a:r>
            <a:r>
              <a:rPr b="1" lang="ko" sz="25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b="1" lang="ko" sz="25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전체 흐름도)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886850" y="3138480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6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Random Sampling</a:t>
            </a:r>
            <a:b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81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(Target)</a:t>
            </a:r>
            <a:endParaRPr sz="181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887015" y="5102450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(P, v) 출력</a:t>
            </a:r>
            <a:br>
              <a:rPr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81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(Prediction)</a:t>
            </a:r>
            <a:endParaRPr sz="181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3760327" y="5110309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Loss 계산</a:t>
            </a:r>
            <a:br>
              <a:rPr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81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(Policy/Value)</a:t>
            </a:r>
            <a:endParaRPr sz="181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6633618" y="5110313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8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Backpropagation</a:t>
            </a:r>
            <a:b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81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(가중치 update)</a:t>
            </a:r>
            <a:endParaRPr sz="181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886850" y="1166642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obs</a:t>
            </a:r>
            <a:b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7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(현재 보드상태)</a:t>
            </a:r>
            <a:endParaRPr sz="1537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3760303" y="1166642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Simulation</a:t>
            </a:r>
            <a:br>
              <a:rPr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81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(MCTS)</a:t>
            </a:r>
            <a:endParaRPr sz="181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6633780" y="1166642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정책(</a:t>
            </a:r>
            <a:r>
              <a:rPr b="1" lang="ko" sz="2196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π</a:t>
            </a: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도출</a:t>
            </a:r>
            <a:endParaRPr sz="181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9507251" y="1166642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착수 및</a:t>
            </a:r>
            <a:b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데이터 임시 저장</a:t>
            </a:r>
            <a:b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b="1" lang="ko" sz="15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mask</a:t>
            </a:r>
            <a:r>
              <a:rPr b="1" lang="ko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ko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포함)</a:t>
            </a:r>
            <a:endParaRPr b="1"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296" name="Google Shape;296;p27"/>
          <p:cNvCxnSpPr/>
          <p:nvPr/>
        </p:nvCxnSpPr>
        <p:spPr>
          <a:xfrm>
            <a:off x="3255485" y="1763997"/>
            <a:ext cx="4560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7"/>
          <p:cNvCxnSpPr/>
          <p:nvPr/>
        </p:nvCxnSpPr>
        <p:spPr>
          <a:xfrm>
            <a:off x="6123681" y="1763997"/>
            <a:ext cx="4560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7"/>
          <p:cNvCxnSpPr/>
          <p:nvPr/>
        </p:nvCxnSpPr>
        <p:spPr>
          <a:xfrm>
            <a:off x="8997148" y="1763997"/>
            <a:ext cx="4560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7"/>
          <p:cNvSpPr/>
          <p:nvPr/>
        </p:nvSpPr>
        <p:spPr>
          <a:xfrm>
            <a:off x="9507251" y="3138480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Backfilling</a:t>
            </a:r>
            <a:br>
              <a:rPr b="1" baseline="-25000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7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(임시 저장 데이터에</a:t>
            </a:r>
            <a:br>
              <a:rPr lang="ko" sz="1537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537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z</a:t>
            </a:r>
            <a:r>
              <a:rPr lang="ko" sz="1537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값 반영)</a:t>
            </a:r>
            <a:endParaRPr sz="1537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633565" y="3138480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Augmentation</a:t>
            </a:r>
            <a:endParaRPr b="1" sz="2196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37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(데이터 증강)</a:t>
            </a:r>
            <a:endParaRPr sz="1537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3760399" y="3138480"/>
            <a:ext cx="2309100" cy="1178700"/>
          </a:xfrm>
          <a:prstGeom prst="rect">
            <a:avLst/>
          </a:pr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00" lIns="100400" spcFirstLastPara="1" rIns="100400" wrap="square" tIns="1004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Replay </a:t>
            </a: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Buffer </a:t>
            </a:r>
            <a:b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196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데이터 저장</a:t>
            </a:r>
            <a:endParaRPr b="1" sz="1537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02" name="Google Shape;302;p27"/>
          <p:cNvCxnSpPr/>
          <p:nvPr/>
        </p:nvCxnSpPr>
        <p:spPr>
          <a:xfrm>
            <a:off x="10759754" y="2487264"/>
            <a:ext cx="0" cy="50940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27"/>
          <p:cNvCxnSpPr/>
          <p:nvPr/>
        </p:nvCxnSpPr>
        <p:spPr>
          <a:xfrm rot="10800000">
            <a:off x="9013699" y="3727838"/>
            <a:ext cx="4446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7"/>
          <p:cNvCxnSpPr/>
          <p:nvPr/>
        </p:nvCxnSpPr>
        <p:spPr>
          <a:xfrm rot="10800000">
            <a:off x="6112918" y="3727838"/>
            <a:ext cx="4446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27"/>
          <p:cNvCxnSpPr/>
          <p:nvPr/>
        </p:nvCxnSpPr>
        <p:spPr>
          <a:xfrm rot="10800000">
            <a:off x="3249155" y="3727838"/>
            <a:ext cx="4446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27"/>
          <p:cNvCxnSpPr/>
          <p:nvPr/>
        </p:nvCxnSpPr>
        <p:spPr>
          <a:xfrm>
            <a:off x="1976046" y="4455166"/>
            <a:ext cx="0" cy="50940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27"/>
          <p:cNvCxnSpPr/>
          <p:nvPr/>
        </p:nvCxnSpPr>
        <p:spPr>
          <a:xfrm>
            <a:off x="3255485" y="5699671"/>
            <a:ext cx="4560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27"/>
          <p:cNvCxnSpPr/>
          <p:nvPr/>
        </p:nvCxnSpPr>
        <p:spPr>
          <a:xfrm>
            <a:off x="6123599" y="5699671"/>
            <a:ext cx="456000" cy="0"/>
          </a:xfrm>
          <a:prstGeom prst="straightConnector1">
            <a:avLst/>
          </a:prstGeom>
          <a:noFill/>
          <a:ln cap="flat" cmpd="sng" w="209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Main hyperparameter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5" name="Google Shape;3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3774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887275" y="791474"/>
            <a:ext cx="3684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Model Architecture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317" name="Google Shape;317;p28"/>
          <p:cNvGraphicFramePr/>
          <p:nvPr/>
        </p:nvGraphicFramePr>
        <p:xfrm>
          <a:off x="1017725" y="13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{71D63438-7FFB-4BFA-A980-70F8F315C082}</a:tableStyleId>
              </a:tblPr>
              <a:tblGrid>
                <a:gridCol w="2571750"/>
                <a:gridCol w="3406825"/>
                <a:gridCol w="1201700"/>
                <a:gridCol w="3106725"/>
              </a:tblGrid>
              <a:tr h="680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Hyperparameter</a:t>
                      </a:r>
                      <a:endParaRPr b="1" sz="2000">
                        <a:solidFill>
                          <a:srgbClr val="FFFF00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설명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값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비고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in_channels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입력 채널 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관측 정보량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channels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 map 채널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96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형세파악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blocks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Residual block 개수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모델 표현력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board_size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바둑판 크기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13 x 13 size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" name="Google Shape;322;p29"/>
          <p:cNvGraphicFramePr/>
          <p:nvPr/>
        </p:nvGraphicFramePr>
        <p:xfrm>
          <a:off x="1017725" y="13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{71D63438-7FFB-4BFA-A980-70F8F315C082}</a:tableStyleId>
              </a:tblPr>
              <a:tblGrid>
                <a:gridCol w="2571750"/>
                <a:gridCol w="3406825"/>
                <a:gridCol w="1201700"/>
                <a:gridCol w="3106725"/>
              </a:tblGrid>
              <a:tr h="569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Hyperparameter</a:t>
                      </a:r>
                      <a:endParaRPr b="1" sz="2000">
                        <a:solidFill>
                          <a:srgbClr val="FFFF00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설명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값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비고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learning_rate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학습률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0.001 →</a:t>
                      </a:r>
                      <a:b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</a:b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0.0001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수렴 속도, 안정성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batch_size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배치 크기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512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학습안정성, 메모리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optimizer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최적화 알고리즘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AdamW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수렴 특성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num_epochs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에폭 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200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학습량 </a:t>
                      </a: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조절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29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Main hyperparameter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5" name="Google Shape;3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3774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887275" y="791463"/>
            <a:ext cx="2609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Train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Main hyperparameter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3774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887275" y="791463"/>
            <a:ext cx="2609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MCTS</a:t>
            </a:r>
            <a:endParaRPr b="1"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335" name="Google Shape;335;p30"/>
          <p:cNvGraphicFramePr/>
          <p:nvPr/>
        </p:nvGraphicFramePr>
        <p:xfrm>
          <a:off x="1017725" y="13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{71D63438-7FFB-4BFA-A980-70F8F315C082}</a:tableStyleId>
              </a:tblPr>
              <a:tblGrid>
                <a:gridCol w="2571750"/>
                <a:gridCol w="3406825"/>
                <a:gridCol w="1201700"/>
                <a:gridCol w="3106725"/>
              </a:tblGrid>
              <a:tr h="652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Hyperparameter</a:t>
                      </a:r>
                      <a:endParaRPr b="1" sz="2000">
                        <a:solidFill>
                          <a:srgbClr val="FFFF00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설명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값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비고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86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num_simulations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시뮬레이션 횟수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200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탐색 품질, 계산량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7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c_puct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탐색 상수 (UCB)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1.5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Exploration vs Exploitation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70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temperature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행동 선택 </a:t>
                      </a: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정도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 → 0.1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초반 exploration,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후반 exploitation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78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dirichlet_alpha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루트 노이즈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탐색 다양성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8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dirichlet_eps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노이즈 비율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0.25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탐색 vs 정책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Main hyperparameter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2" name="Google Shape;3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3774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887275" y="791463"/>
            <a:ext cx="26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Self-Play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344" name="Google Shape;344;p31"/>
          <p:cNvGraphicFramePr/>
          <p:nvPr/>
        </p:nvGraphicFramePr>
        <p:xfrm>
          <a:off x="1017725" y="134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{71D63438-7FFB-4BFA-A980-70F8F315C082}</a:tableStyleId>
              </a:tblPr>
              <a:tblGrid>
                <a:gridCol w="2571750"/>
                <a:gridCol w="3406825"/>
                <a:gridCol w="1201700"/>
                <a:gridCol w="3106725"/>
              </a:tblGrid>
              <a:tr h="64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Hyperparameter</a:t>
                      </a:r>
                      <a:endParaRPr b="1" sz="2000">
                        <a:solidFill>
                          <a:srgbClr val="FFFF00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설명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값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2000">
                          <a:solidFill>
                            <a:srgbClr val="FF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비고</a:t>
                      </a:r>
                      <a:endParaRPr b="1" sz="2000">
                        <a:solidFill>
                          <a:srgbClr val="FFFF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814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games_per_iter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반복당 게임 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60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데이터 수집량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85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selfplay_workers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병렬 워커 수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Self-play 속도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83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buffer_cap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리플레이 버퍼 크기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500,000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메모리, 데이터 다양성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  <a:tr h="79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highlight>
                            <a:srgbClr val="141414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min_buffer</a:t>
                      </a:r>
                      <a:endParaRPr sz="2000">
                        <a:solidFill>
                          <a:schemeClr val="lt1"/>
                        </a:solidFill>
                        <a:highlight>
                          <a:srgbClr val="141414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학습시작 최소 데이터 수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4,000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적정학습 시작 최소 샘플</a:t>
                      </a:r>
                      <a:endParaRPr sz="20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/>
        </p:nvSpPr>
        <p:spPr>
          <a:xfrm>
            <a:off x="932781" y="874438"/>
            <a:ext cx="110583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Experiment Environment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1. Framework: Python 3.8+, PyTorch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2. Computing Resources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NVIDIA RTX 3090 2대: 신경망 추론 및 학습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CPU: 다중 코어를 활용한 16개의 Self-Play Workers 병렬 구동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Evaluation Metric</a:t>
            </a:r>
            <a:br>
              <a:rPr b="1"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20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1. Policy/Value Loss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학습 데이터에 대한 모델의 loss 감소 추이 확인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Policy Loss: MCTS가 찾은 수(π)와 모델의 예측(P) 간의 Cross-Entropy Loss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다. Value Loss: 실제 결과(z)와 예측(v) 간의 MSE Loss	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0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2. Win rate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일정주기(20 Epoch)마다 현재 모델과 이전 베스트 모델 간의 100판의 평가 대국을 수행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새로운 모델의 승률이 55% 이상일 경우, 새로운 베스트 모델로 선택 후 가중치 저장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200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3. Explained Variance(EV) 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Value Head가 예측한 승률(v)이 실제 게임 결과(z)를 얼마나 잘 예측하였는지를 나타내는 지표</a:t>
            </a:r>
            <a:b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EV = 1 - Var(z -v)/Var(z) 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ko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1.0에 가까울 수록 승패를 잘 예측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Environment &amp; Evaluation Metric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2" name="Google Shape;3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246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3238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(Dual-Head)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480" y="914400"/>
            <a:ext cx="5486399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0" y="9144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(Dual-Head)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914400"/>
            <a:ext cx="54864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80" y="9144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(Dual-Head)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914400"/>
            <a:ext cx="5486401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80" y="914400"/>
            <a:ext cx="5486399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(Dual-Head)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4" name="Google Shape;3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963966"/>
            <a:ext cx="3766416" cy="362680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385" name="Google Shape;38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6925" y="963975"/>
            <a:ext cx="4027685" cy="36267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386" name="Google Shape;38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2234" y="963950"/>
            <a:ext cx="3766416" cy="362680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7" name="Google Shape;387;p36"/>
          <p:cNvSpPr txBox="1"/>
          <p:nvPr/>
        </p:nvSpPr>
        <p:spPr>
          <a:xfrm>
            <a:off x="502678" y="1073510"/>
            <a:ext cx="30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Loss</a:t>
            </a:r>
            <a:endParaRPr sz="2400"/>
          </a:p>
        </p:txBody>
      </p:sp>
      <p:sp>
        <p:nvSpPr>
          <p:cNvPr id="388" name="Google Shape;388;p36"/>
          <p:cNvSpPr txBox="1"/>
          <p:nvPr/>
        </p:nvSpPr>
        <p:spPr>
          <a:xfrm>
            <a:off x="279938" y="1609050"/>
            <a:ext cx="3492300" cy="26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Epoch 0   →  Epoch 200에 따른 Loss 변화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p1_loss:  2.8  →  0.53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p2_loss:  2.5  →  0.58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v_loss:   0.05 →  0.009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====================================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해석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모델이 MCTS target 분포를 성공적으로 학습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P l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oss는 수렴이 안정적 이지만, 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v loss는 불안정 및 극단적 수렴(overfitting)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학습 메커니즘 자체는 정상 작동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9" name="Google Shape;389;p36"/>
          <p:cNvSpPr txBox="1"/>
          <p:nvPr/>
        </p:nvSpPr>
        <p:spPr>
          <a:xfrm>
            <a:off x="4297400" y="1073519"/>
            <a:ext cx="35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Win Rate</a:t>
            </a:r>
            <a:endParaRPr sz="2400"/>
          </a:p>
        </p:txBody>
      </p:sp>
      <p:sp>
        <p:nvSpPr>
          <p:cNvPr id="390" name="Google Shape;390;p36"/>
          <p:cNvSpPr txBox="1"/>
          <p:nvPr/>
        </p:nvSpPr>
        <p:spPr>
          <a:xfrm>
            <a:off x="8699482" y="1073510"/>
            <a:ext cx="30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Explained Variance</a:t>
            </a:r>
            <a:endParaRPr sz="2400"/>
          </a:p>
        </p:txBody>
      </p:sp>
      <p:pic>
        <p:nvPicPr>
          <p:cNvPr descr="image.png" id="391" name="Google Shape;39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976" y="16190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976" y="296063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6"/>
          <p:cNvSpPr txBox="1"/>
          <p:nvPr/>
        </p:nvSpPr>
        <p:spPr>
          <a:xfrm>
            <a:off x="4217538" y="1609050"/>
            <a:ext cx="3766500" cy="2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Epoch 0   →  Epoch 200에 따른 Win Rate 변화</a:t>
            </a:r>
            <a:b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Epoch:       20     60     100    140    180</a:t>
            </a: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200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Win Rate:    0       0        0       0       0</a:t>
            </a: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0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=======================================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해석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새 모델이 이전 모델을 단 한 번도 이기지 못함</a:t>
            </a:r>
            <a:endParaRPr sz="1300">
              <a:solidFill>
                <a:srgbClr val="FCE5CD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- 200 epoch 동안 성능 향상이 없음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Loss 감소에도 불구하고 실제 플레이 능력은 정체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94" name="Google Shape;39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7551" y="16190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7551" y="270598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8376813" y="1609050"/>
            <a:ext cx="35973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Epoch 0   →  Epoch 200에 따른 EV 변화</a:t>
            </a:r>
            <a:b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</a:t>
            </a: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Epoch:    0      50      100     150    200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EV:       -0.2    0.01    0.02    0.0    0.0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1.0에 가까울 수록 승/패 예측 성능 좋음</a:t>
            </a:r>
            <a:endParaRPr sz="1300">
              <a:solidFill>
                <a:srgbClr val="FCE5CD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=====================================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해석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Value head가 모든 상황에서 동일한 값(≈0.0) 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게임 상황에 대한 이해력 부족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MCTS가 value 정보를 활용하지 못함</a:t>
            </a:r>
            <a:endParaRPr sz="1300">
              <a:solidFill>
                <a:srgbClr val="FCE5CD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97" name="Google Shape;39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2445" y="296063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136850" y="4684683"/>
            <a:ext cx="11921700" cy="210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종합분석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“Value Head 성능 저하 </a:t>
            </a:r>
            <a:r>
              <a:rPr lang="ko" sz="16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→ MCTS 탐색 품질 저하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" sz="16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→ 저품질의 Policy Target 생성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및 학습 </a:t>
            </a:r>
            <a:r>
              <a:rPr lang="ko" sz="16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→ 성능 개선 없음”</a:t>
            </a:r>
            <a:r>
              <a:rPr lang="ko" sz="16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의 악순환 구조</a:t>
            </a:r>
            <a:br>
              <a:rPr lang="ko" sz="16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실제 게임 결과가 평균적으로 0에 가깝기 때문에 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MSE loss는 낮지만 실제로는 의미없는 예측을 하고 있음.</a:t>
            </a:r>
            <a:endParaRPr sz="1600">
              <a:solidFill>
                <a:srgbClr val="FCE5C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ko" sz="1600">
                <a:solidFill>
                  <a:srgbClr val="E4E4E4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모델 구조상 π2는 첫 수 정보를 concat으로 받지만 실제로는 이를 무시하고 평균적인 두 번째 수만 학습한다고 판단</a:t>
            </a:r>
            <a:endParaRPr sz="1600">
              <a:solidFill>
                <a:srgbClr val="E4E4E4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즉, </a:t>
            </a:r>
            <a:r>
              <a:rPr lang="ko" sz="1600">
                <a:solidFill>
                  <a:srgbClr val="FCE5CD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  <a:t>첫 수에 따라 두 번째 수가 적절하게 변하지 않아 연관성 학습 실패</a:t>
            </a:r>
            <a:br>
              <a:rPr lang="ko" sz="1600">
                <a:solidFill>
                  <a:srgbClr val="E4E4E4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Single-Head 구조로의 전환 필요</a:t>
            </a:r>
            <a:endParaRPr sz="1050">
              <a:solidFill>
                <a:srgbClr val="FCE5CD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image.png" id="399" name="Google Shape;39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2445" y="161908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7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(Single-Head)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5" name="Google Shape;405;p37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914400"/>
            <a:ext cx="54864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80" y="914400"/>
            <a:ext cx="5486399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(Single-Head)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480" y="914400"/>
            <a:ext cx="54864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0" y="914400"/>
            <a:ext cx="5486399" cy="365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Experiment Results (Single-Head)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1" name="Google Shape;421;p39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2" name="Google Shape;4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963966"/>
            <a:ext cx="3766416" cy="362680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423" name="Google Shape;42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6925" y="963975"/>
            <a:ext cx="4027685" cy="36267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.png" id="424" name="Google Shape;42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2234" y="963950"/>
            <a:ext cx="3766416" cy="362680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5" name="Google Shape;425;p39"/>
          <p:cNvSpPr txBox="1"/>
          <p:nvPr/>
        </p:nvSpPr>
        <p:spPr>
          <a:xfrm>
            <a:off x="502678" y="1073510"/>
            <a:ext cx="30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Loss</a:t>
            </a:r>
            <a:endParaRPr sz="2400"/>
          </a:p>
        </p:txBody>
      </p:sp>
      <p:sp>
        <p:nvSpPr>
          <p:cNvPr id="426" name="Google Shape;426;p39"/>
          <p:cNvSpPr txBox="1"/>
          <p:nvPr/>
        </p:nvSpPr>
        <p:spPr>
          <a:xfrm>
            <a:off x="279938" y="1609050"/>
            <a:ext cx="3492300" cy="23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Epoch 0   →  Epoch 200에 따른 Loss 변화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p_loss:  3.3  →  0.51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v_loss:   0.12 →  0.03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====================================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해석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학습 초중반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v loss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가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불안정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하지만 후반으로</a:t>
            </a:r>
            <a:b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갈 수록 안정되며 dual-head에 비해 극단적</a:t>
            </a:r>
            <a:b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값(0.009)으로 수렴되지 않음.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학습 메커니즘 정상 작동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9"/>
          <p:cNvSpPr txBox="1"/>
          <p:nvPr/>
        </p:nvSpPr>
        <p:spPr>
          <a:xfrm>
            <a:off x="4297400" y="1073519"/>
            <a:ext cx="35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Win Rate</a:t>
            </a:r>
            <a:endParaRPr sz="2400"/>
          </a:p>
        </p:txBody>
      </p:sp>
      <p:sp>
        <p:nvSpPr>
          <p:cNvPr id="428" name="Google Shape;428;p39"/>
          <p:cNvSpPr txBox="1"/>
          <p:nvPr/>
        </p:nvSpPr>
        <p:spPr>
          <a:xfrm>
            <a:off x="8699482" y="1073510"/>
            <a:ext cx="30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Explained Variance</a:t>
            </a:r>
            <a:endParaRPr sz="2400"/>
          </a:p>
        </p:txBody>
      </p:sp>
      <p:pic>
        <p:nvPicPr>
          <p:cNvPr descr="image.png" id="429" name="Google Shape;42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976" y="16190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976" y="267734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 txBox="1"/>
          <p:nvPr/>
        </p:nvSpPr>
        <p:spPr>
          <a:xfrm>
            <a:off x="4217538" y="1609050"/>
            <a:ext cx="3766500" cy="2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Epoch 0   →  Epoch 200에 따른 Win Rate 변화</a:t>
            </a:r>
            <a:b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Epoch:       20      60      100      140    180    200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Win Rate:  0.01   0.03    0.04   0.05   0.08   0.01 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=======================================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해석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Dual-Head에 비해 적은 수치지만 개선</a:t>
            </a:r>
            <a:b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하지만 0.55이상 승률이 나와야 유의미하다고 볼</a:t>
            </a:r>
            <a:b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수 있기 때문에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성능이 개선되고 있다고 볼 수 없음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432" name="Google Shape;43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7551" y="16190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7551" y="270598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8376813" y="1609050"/>
            <a:ext cx="35973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Epoch 0   →  Epoch 200에 따른 EV 변화</a:t>
            </a:r>
            <a:b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Epoch:    0      50      100     150    200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rgbClr val="E4E4E4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EV:       -0.2    0.7     0.65     0.6     0.6</a:t>
            </a:r>
            <a:endParaRPr sz="1300">
              <a:solidFill>
                <a:srgbClr val="E4E4E4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1.0에 가까울 수록 승/패 예측 성능 좋음</a:t>
            </a:r>
            <a:endParaRPr sz="1300">
              <a:solidFill>
                <a:srgbClr val="FCE5CD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=====================================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해석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수치는 개선되었지만 self-play draw 비율이</a:t>
            </a:r>
            <a:b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개선되지 못하였음(약 90%) </a:t>
            </a:r>
            <a:endParaRPr sz="1300">
              <a:solidFill>
                <a:schemeClr val="lt1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- 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즉, 승패를 가리지 못하고 </a:t>
            </a: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무의미한 수만 두다가</a:t>
            </a:r>
            <a:b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끝나버리는 무승부를 맞추는 것을 잘 맞추고</a:t>
            </a:r>
            <a:b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</a:br>
            <a:r>
              <a:rPr lang="ko" sz="1300">
                <a:solidFill>
                  <a:srgbClr val="FCE5CD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         있다는 착각</a:t>
            </a:r>
            <a:r>
              <a:rPr lang="ko" sz="1300">
                <a:solidFill>
                  <a:schemeClr val="lt1"/>
                </a:solidFill>
                <a:highlight>
                  <a:srgbClr val="181818"/>
                </a:highlight>
                <a:latin typeface="Urbanist"/>
                <a:ea typeface="Urbanist"/>
                <a:cs typeface="Urbanist"/>
                <a:sym typeface="Urbanist"/>
              </a:rPr>
              <a:t>하고 있을 것이라고 판단.</a:t>
            </a:r>
            <a:endParaRPr sz="1300">
              <a:solidFill>
                <a:srgbClr val="FCE5CD"/>
              </a:solidFill>
              <a:highlight>
                <a:srgbClr val="181818"/>
              </a:highlight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435" name="Google Shape;43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2445" y="296063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136850" y="4684683"/>
            <a:ext cx="11921700" cy="210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종합분석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평가지표가 Dual-Head에 비해 개선된 것은 사실이지만 유의미한 성능의 도약이라고는 볼 수 없음. </a:t>
            </a:r>
            <a:br>
              <a:rPr lang="ko" sz="1600">
                <a:solidFill>
                  <a:srgbClr val="E4E4E4"/>
                </a:solidFill>
                <a:highlight>
                  <a:srgbClr val="181818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다양한 파라미터를 조절하여 실험해 본 결과 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MCTS_simulation 횟수가 성능에 큰 영향을 끼치는 것을 알 수 있었음. </a:t>
            </a:r>
            <a:b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프로젝트에서는 정해진 기간으로 인하여 simulation 횟수를 200회(1 epoch 당 약 25분 소요) 까지 밖에 늘리지 못하였지만, </a:t>
            </a: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600~800회까지 </a:t>
            </a:r>
            <a:b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  늘려 다양한 수를 학습하게 한다면 충분히 좋은 성능이 나올 것이라고 판단됨.</a:t>
            </a:r>
            <a:b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0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- 프로젝트 종료 후에도 simulation 횟수를 높여 실험을 이어나갈 예정</a:t>
            </a:r>
            <a:endParaRPr sz="1050">
              <a:solidFill>
                <a:srgbClr val="FCE5CD"/>
              </a:solidFill>
              <a:highlight>
                <a:srgbClr val="18181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image.png" id="437" name="Google Shape;43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2445" y="161908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/>
        </p:nvSpPr>
        <p:spPr>
          <a:xfrm>
            <a:off x="864197" y="1297085"/>
            <a:ext cx="11058300" cy="5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육목(Connect6) Agent 개발의 핵심은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"한 턴에 두 수를 착수한다"는 규칙을 신경망에 어떻게 모델링할 것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인가였으며, 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본 프로젝트에서는 이를 해결하기 위해 두 가지 접근 방식을 아래와 같이 비교 실험하였음.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1. 가정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실험 설계 단계에서 첫 번째 수와 두 번째 수 사이의 전략적 연계성이 중요할 것이라 판단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첫 번째 수를 조건(Condition)으로 받아 두 번째 수를 결정하는 Dual-Head 구조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가 더 우수할 것으로  가정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2. 실험 결과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실제 학습 결과,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Single-Head 모델이 평가지표 면에서 Dual-Head 모델보다 다소 우수한 성능을 보임.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실제 GUI 구현을 통한 대국(정성적 평가)에서도 Single-Head 모델의 성능이 우수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3. 원인 분석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단순 결합(Concatenation)의 한계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1) Dual-Head 모델은 Backbone의 Feature Map에 첫 수의 위치 정보(One-hot)를 단순 결합(Concat)하여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   두번 째 수를 추론하도록 설계되었음. 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2) 그러나 실험 결과, 이 방식만으로는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두 수 간의 복잡한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공간적·전략적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상관관계를 해석해내지 못하였음.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오차 전파 (Error Propagation)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1) 학습 초기 첫 번째 수의 질이 좋지 않을 때, 이 값이 그대로 두 번째 수를 위한 입력으로 들어감.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2) 이러한 입력값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이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두 번째 헤드의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학습까지 저해하는 악순환이 발생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4. 결론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반면,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Single-Head 모델은 상태 전이를 서브스텝(Substep) 단위로 쪼개어 입력값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으로 활용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이는 "변화된 상태에서의 최적해"를 독립적으로 찾게 함으로써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학습 안정성 확보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를 가능하게 하여 더 우수한 성능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Results &amp; Discussion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5" name="Google Shape;44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2460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0"/>
          <p:cNvSpPr txBox="1"/>
          <p:nvPr/>
        </p:nvSpPr>
        <p:spPr>
          <a:xfrm>
            <a:off x="771064" y="782387"/>
            <a:ext cx="3197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모델 아키텍쳐 비교 분석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"/>
          <p:cNvSpPr txBox="1"/>
          <p:nvPr/>
        </p:nvSpPr>
        <p:spPr>
          <a:xfrm>
            <a:off x="864197" y="1297085"/>
            <a:ext cx="11058300" cy="5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Model Architecture, Train, MCTS, Self-play의 각종 Hyperparameter는 AlphaZero style에 적합하다고 검증된 값을 준용하고자 하였음. 하지만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AlphaZero 알고리즘은 MCTS 기반이기 때문에 상당한 연산량이 수반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됨. 제한된 프로젝트 기간내 정해진 GPU로 인하여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“성능-추론속도” 간의 Trade-off 관계에 영향을 끼치는 Hyperparameter의 선별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및 조정이 필요하였음.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1. MCTS simulation 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횟수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“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성능-추론속도”의 Trade-off 관계에 가장 직접적인 영향을 끼치는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Hyperparameter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너무 낮으면,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속도는 빠르지만 MCTS가 신경망의 잘못된 직관(P)을 충분히 보정하지 못해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저품질의 정책(π)을 생성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다.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너무 높으면,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성능 향상 폭 대비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연산 비용이 과다하여 학습속도 제한</a:t>
            </a:r>
            <a:b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라. 반복적인 실험을 통하여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200회가 최적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이라고 판단.(하지만 성능을 위해서는 600~800회 까지 증가 필요)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2. Data Augmentation 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개수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Self-play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데이터 생성 비용이 매우 높은 환경이므로, 대칭성을 활용한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8배 데이터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증강은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제한된 시간내 고품질의</a:t>
            </a:r>
            <a:b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데이터를 확보하기 위한 방안으로 도입.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학습 초반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저품질의 데이터 또한 증강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되어 학습의 불안정이 초래될 것으로 예상되었지만 이는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MCTS를 통한 수많은</a:t>
            </a:r>
            <a:b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데이터 축적으로 극복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되었음.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다. 즉, 데이터 증강은 모델의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Overfitting을 방지하고 돌의 형세를 학습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하게 하는데 큰 역할을 했다고 판단하였음. </a:t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2" name="Google Shape;452;p41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Results &amp; Discussion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41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4" name="Google Shape;4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2460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1"/>
          <p:cNvSpPr txBox="1"/>
          <p:nvPr/>
        </p:nvSpPr>
        <p:spPr>
          <a:xfrm>
            <a:off x="771075" y="782374"/>
            <a:ext cx="3413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핵심 Hyperparameter의 영향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 txBox="1"/>
          <p:nvPr/>
        </p:nvSpPr>
        <p:spPr>
          <a:xfrm>
            <a:off x="864197" y="1297085"/>
            <a:ext cx="11058300" cy="4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학습 초기에 승리에 도움이 되지 않는 위치에 착수하는 경우가 대부분임을 확인하였으며, 초기 성능의 신속한 향상을 위하여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어느정도의 휴리스틱 도입이 도움이 될 것이라고 가정하였음. 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1. Proximity Prior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목적: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마지막 착수 주변에 더 높은 가중치를 부여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하여 형세가 응집 될 수 있도록 착수를 유도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문제점: 상대의 마지막 착수주변에 돌을 두는 경향이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수비 편향 문제로 이어져 성능 저하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</a:t>
            </a:r>
            <a:r>
              <a:rPr b="1" lang="ko" sz="1650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2. Treat Detection</a:t>
            </a:r>
            <a:b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가.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“연속된 돌이 4개 나오면 양쪽을 막는다.”, “연속된 돌이 3개 나오면 최소한 한쪽은 막는다.” 등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상대방의 즉시 승리로 </a:t>
            </a:r>
            <a:b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	               이어지는 수를 막기위한 “착수 규칙” 구현</a:t>
            </a:r>
            <a:b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나.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문제점: 다양한 전략을 학습하기 보다는 “착수 규칙”을 구현하기 위한 착수에 집중하여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창의적 수 제한 판단</a:t>
            </a:r>
            <a:endParaRPr sz="1650">
              <a:solidFill>
                <a:srgbClr val="FCE5C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결과적으로는 “어설픈 인간의 지식을 투입하지 않는다.”라는 AlphaZero의 지향점을 준용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하고자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도입한 휴리스틱을 비활성화 하였음. 학습 초기의 체크포인트를 통하여 GUI를 구현해 정성적 평가를 해본 결과, 모델 초기부터 돌이 잘 응집되어 경기가 이어지는 것 처럼 보였음. 하지만 </a:t>
            </a:r>
            <a:r>
              <a:rPr lang="ko" sz="1650">
                <a:solidFill>
                  <a:srgbClr val="FCE5CD"/>
                </a:solidFill>
                <a:latin typeface="Urbanist"/>
                <a:ea typeface="Urbanist"/>
                <a:cs typeface="Urbanist"/>
                <a:sym typeface="Urbanist"/>
              </a:rPr>
              <a:t>학습이 중후반부로 이어질 수록 휴리스틱이 오히려 장애물이 되어 창의적인 수가 제한</a:t>
            </a:r>
            <a:r>
              <a:rPr lang="ko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됨을 확인.</a:t>
            </a:r>
            <a:endParaRPr sz="1650">
              <a:solidFill>
                <a:srgbClr val="FCE5CD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1" name="Google Shape;461;p42"/>
          <p:cNvSpPr txBox="1"/>
          <p:nvPr/>
        </p:nvSpPr>
        <p:spPr>
          <a:xfrm>
            <a:off x="762000" y="247403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1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Results &amp; Discussion</a:t>
            </a:r>
            <a:endParaRPr b="1"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571500" y="247403"/>
            <a:ext cx="47700" cy="4800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3" name="Google Shape;46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2460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2"/>
          <p:cNvSpPr txBox="1"/>
          <p:nvPr/>
        </p:nvSpPr>
        <p:spPr>
          <a:xfrm>
            <a:off x="771075" y="782374"/>
            <a:ext cx="3413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20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휴리스틱 도입의 효과와 시사점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